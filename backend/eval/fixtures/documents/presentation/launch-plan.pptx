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zh-TW" sz="3200" b="1"/>
              <a:t>晨星計畫啟動簡報</a:t>
            </a:r>
            <a:endParaRPr lang="zh-TW"/>
          </a:p>
        </p:txBody>
      </p:sp>
      <p:sp>
        <p:nvSpPr>
          <p:cNvPr id="3" name="Body"/>
          <p:cNvSpPr txBox="1"/>
          <p:nvPr/>
        </p:nvSpPr>
        <p:spPr>
          <a:xfrm>
            <a:off x="685800" y="1524000"/>
            <a:ext cx="7772400" cy="4114800"/>
          </a:xfrm>
          <a:prstGeom prst="rect">
            <a:avLst/>
          </a:prstGeom>
          <a:noFill/>
        </p:spPr>
        <p:txBody>
          <a:bodyPr/>
          <a:lstStyle/>
          <a:p>
            <a:r>
              <a:rPr lang="zh-TW" sz="2400"/>
              <a:t>第 1 頁：核准範圍</a:t>
            </a:r>
            <a:endParaRPr lang="zh-TW"/>
          </a:p>
          <a:p>
            <a:r>
              <a:rPr lang="zh-TW" sz="2400"/>
              <a:t>產品：知識助理</a:t>
            </a:r>
            <a:endParaRPr lang="zh-TW"/>
          </a:p>
          <a:p>
            <a:r>
              <a:rPr lang="zh-TW" sz="2400"/>
              <a:t>狀態：已核准</a:t>
            </a:r>
            <a:endParaRPr 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zh-TW" sz="3200" b="1"/>
              <a:t>發佈窗口</a:t>
            </a:r>
            <a:endParaRPr lang="zh-TW"/>
          </a:p>
        </p:txBody>
      </p:sp>
      <p:sp>
        <p:nvSpPr>
          <p:cNvPr id="3" name="Body"/>
          <p:cNvSpPr txBox="1"/>
          <p:nvPr/>
        </p:nvSpPr>
        <p:spPr>
          <a:xfrm>
            <a:off x="685800" y="1524000"/>
            <a:ext cx="7772400" cy="4114800"/>
          </a:xfrm>
          <a:prstGeom prst="rect">
            <a:avLst/>
          </a:prstGeom>
          <a:noFill/>
        </p:spPr>
        <p:txBody>
          <a:bodyPr/>
          <a:lstStyle/>
          <a:p>
            <a:r>
              <a:rPr lang="zh-TW" sz="2400"/>
              <a:t>第 2 頁：正式資料</a:t>
            </a:r>
            <a:endParaRPr lang="zh-TW"/>
          </a:p>
          <a:p>
            <a:r>
              <a:rPr lang="zh-TW" sz="2400"/>
              <a:t>日期：2026-11-05</a:t>
            </a:r>
            <a:endParaRPr lang="zh-TW"/>
          </a:p>
          <a:p>
            <a:r>
              <a:rPr lang="zh-TW" sz="2400"/>
              <a:t>時間：09:30</a:t>
            </a:r>
            <a:endParaRPr lang="zh-TW"/>
          </a:p>
          <a:p>
            <a:r>
              <a:rPr lang="zh-TW" sz="2400"/>
              <a:t>負責人：王雅雯</a:t>
            </a:r>
            <a:endParaRPr lang="zh-T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/>
          <a:lstStyle/>
          <a:p>
            <a:r>
              <a:rPr lang="zh-TW" sz="3200" b="1"/>
              <a:t>回復條件</a:t>
            </a:r>
            <a:endParaRPr lang="zh-TW"/>
          </a:p>
        </p:txBody>
      </p:sp>
      <p:sp>
        <p:nvSpPr>
          <p:cNvPr id="3" name="Body"/>
          <p:cNvSpPr txBox="1"/>
          <p:nvPr/>
        </p:nvSpPr>
        <p:spPr>
          <a:xfrm>
            <a:off x="685800" y="1524000"/>
            <a:ext cx="7772400" cy="4114800"/>
          </a:xfrm>
          <a:prstGeom prst="rect">
            <a:avLst/>
          </a:prstGeom>
          <a:noFill/>
        </p:spPr>
        <p:txBody>
          <a:bodyPr/>
          <a:lstStyle/>
          <a:p>
            <a:r>
              <a:rPr lang="zh-TW" sz="2400"/>
              <a:t>第 3 頁：監控</a:t>
            </a:r>
            <a:endParaRPr lang="zh-TW"/>
          </a:p>
          <a:p>
            <a:r>
              <a:rPr lang="zh-TW" sz="2400"/>
              <a:t>錯誤率超過 2.5% 即回復</a:t>
            </a:r>
            <a:endParaRPr lang="zh-TW"/>
          </a:p>
          <a:p>
            <a:r>
              <a:rPr lang="zh-TW" sz="2400"/>
              <a:t>通知頻道：blue-alert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dk1>
        <a:srgbClr val="202020"/>
      </a:dk1>
      <a:lt1>
        <a:srgbClr val="FFFFFF"/>
      </a:lt1>
      <a:dk2>
        <a:srgbClr val="1F4E79"/>
      </a:dk2>
      <a:lt2>
        <a:srgbClr val="EAF2F8"/>
      </a:lt2>
      <a:accent1>
        <a:srgbClr val="2E75B6"/>
      </a:accent1>
      <a:accent2>
        <a:srgbClr val="70AD47"/>
      </a:accent2>
      <a:accent3>
        <a:srgbClr val="ED7D31"/>
      </a:accent3>
      <a:accent4>
        <a:srgbClr val="A5A5A5"/>
      </a:accent4>
      <a:accent5>
        <a:srgbClr val="5B9BD5"/>
      </a:accent5>
      <a:accent6>
        <a:srgbClr val="FFC000"/>
      </a:accent6>
      <a:hlink>
        <a:srgbClr val="0563C1"/>
      </a:hlink>
      <a:folHlink>
        <a:srgbClr val="954F72"/>
      </a:folHlink>
    </a:clrScheme>
    <a:fontScheme name="Synthetic">
      <a:majorFont>
        <a:latin typeface="Arial"/>
        <a:ea typeface="Microsoft JhengHei"/>
        <a:cs typeface="Arial"/>
      </a:majorFont>
      <a:minorFont>
        <a:latin typeface="Arial"/>
        <a:ea typeface="Microsoft JhengHei"/>
        <a:cs typeface="Arial"/>
      </a:minorFont>
    </a:fontScheme>
    <a:fmtScheme name="Syntheti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